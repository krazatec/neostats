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74320"/>
            <a:ext cx="3657600" cy="36576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822960"/>
            <a:ext cx="2560320" cy="25603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371600" y="9601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NeoStats AI Assistant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37160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Intelligent Chatbot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2606040"/>
            <a:ext cx="14173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07792" y="2606040"/>
            <a:ext cx="14173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43984" y="2606040"/>
            <a:ext cx="14173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0176" y="2606040"/>
            <a:ext cx="14173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0176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16368" y="2606040"/>
            <a:ext cx="14173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" y="44348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NeoStats AI Engineer Case Study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Use Case Objective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0F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931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students, legal, and finance professionals lack accurate, fast, contextual AI assistance.
</a:t>
            </a:r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 tools have no document awareness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adaptation to domain context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results are noisy and unverified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response style fails all user types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206240" cy="3566160"/>
          </a:xfrm>
          <a:prstGeom prst="rect">
            <a:avLst/>
          </a:prstGeom>
          <a:solidFill>
            <a:srgbClr val="0F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4206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70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NeoStats AI Solves This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627632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with 5 intelligent domain personas:
</a:t>
            </a:r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MediBot Pro — Healthcare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LexBot — Legal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FinBot — Finance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EduBot — Education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NeoBot — General Purpose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🏗  Approach &amp;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08760" cy="1371600"/>
          </a:xfrm>
          <a:prstGeom prst="rect">
            <a:avLst/>
          </a:prstGeom>
          <a:solidFill>
            <a:srgbClr val="0F2236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755648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097280"/>
            <a:ext cx="1508760" cy="1371600"/>
          </a:xfrm>
          <a:prstGeom prst="rect">
            <a:avLst/>
          </a:prstGeom>
          <a:solidFill>
            <a:srgbClr val="0F2236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143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16916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1755648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097280"/>
            <a:ext cx="1508760" cy="1371600"/>
          </a:xfrm>
          <a:prstGeom prst="rect">
            <a:avLst/>
          </a:prstGeom>
          <a:solidFill>
            <a:srgbClr val="0F223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143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49040" y="16916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1755648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097280"/>
            <a:ext cx="1508760" cy="1371600"/>
          </a:xfrm>
          <a:prstGeom prst="rect">
            <a:avLst/>
          </a:prstGeom>
          <a:solidFill>
            <a:srgbClr val="0F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143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0" y="16916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1755648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097280"/>
            <a:ext cx="1508760" cy="1371600"/>
          </a:xfrm>
          <a:prstGeom prst="rect">
            <a:avLst/>
          </a:prstGeom>
          <a:solidFill>
            <a:srgbClr val="0F2236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143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23760" y="16916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26974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 Structure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108960"/>
            <a:ext cx="4160520" cy="347472"/>
          </a:xfrm>
          <a:prstGeom prst="rect">
            <a:avLst/>
          </a:prstGeom>
          <a:solidFill>
            <a:srgbClr val="0F22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12724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config/config.py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2735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model settings, RAG &amp; search config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3108960"/>
            <a:ext cx="4160520" cy="347472"/>
          </a:xfrm>
          <a:prstGeom prst="rect">
            <a:avLst/>
          </a:prstGeom>
          <a:solidFill>
            <a:srgbClr val="0F2236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312724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models/llm.py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82312" y="32735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BaseLLM interface — OpenAI, Groq (incl. llama-3.3-70b-versatile), Gemini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547872"/>
            <a:ext cx="4160520" cy="347472"/>
          </a:xfrm>
          <a:prstGeom prst="rect">
            <a:avLst/>
          </a:prstGeom>
          <a:solidFill>
            <a:srgbClr val="0F223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56616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models/embeddings.py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37124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 + FAISS vector store with disk persistence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3547872"/>
            <a:ext cx="4160520" cy="347472"/>
          </a:xfrm>
          <a:prstGeom prst="rect">
            <a:avLst/>
          </a:prstGeom>
          <a:solidFill>
            <a:srgbClr val="0F223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356616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utils/document_processor.py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82312" y="37124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PDF/DOCX/CSV extraction, chunking, RAG pipeline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986784"/>
            <a:ext cx="4160520" cy="347472"/>
          </a:xfrm>
          <a:prstGeom prst="rect">
            <a:avLst/>
          </a:prstGeom>
          <a:solidFill>
            <a:srgbClr val="0F223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00507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utils/web_search.py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7472" y="41513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→ Tavily → Brave search fallback chain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3986784"/>
            <a:ext cx="4160520" cy="347472"/>
          </a:xfrm>
          <a:prstGeom prst="rect">
            <a:avLst/>
          </a:prstGeom>
          <a:solidFill>
            <a:srgbClr val="0F22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400507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utils/prompt_utils.py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82312" y="41513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system prompts, response modes, history management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4407408"/>
            <a:ext cx="8595360" cy="347472"/>
          </a:xfrm>
          <a:prstGeom prst="rect">
            <a:avLst/>
          </a:prstGeom>
          <a:solidFill>
            <a:srgbClr val="0F2236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4439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  —   Streamlit UI — dynamic domain theming, streaming, analytics, export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 Dynamic Domain Theming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581912" cy="2011680"/>
          </a:xfrm>
          <a:prstGeom prst="rect">
            <a:avLst/>
          </a:prstGeom>
          <a:solidFill>
            <a:srgbClr val="0F2236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1581912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15568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600" y="171907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Pro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06654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" y="246888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Accent colour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8600" y="27157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 avatar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8600" y="296265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Header title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8600" y="3209544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Welcome prompts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8600" y="3456432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placeholder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8600" y="370332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 upload hint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" y="395020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prompt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93392" y="1051560"/>
            <a:ext cx="1581912" cy="2011680"/>
          </a:xfrm>
          <a:prstGeom prst="rect">
            <a:avLst/>
          </a:prstGeom>
          <a:solidFill>
            <a:srgbClr val="0F223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93392" y="1051560"/>
            <a:ext cx="1581912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1115568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993392" y="171907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LexBot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93392" y="206654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93392" y="246888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Accent colour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93392" y="27157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 avatar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93392" y="296265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Header title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93392" y="3209544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Welcome prompts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93392" y="3456432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placeholder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93392" y="370332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 upload hint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93392" y="395020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prompt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58184" y="1051560"/>
            <a:ext cx="1581912" cy="2011680"/>
          </a:xfrm>
          <a:prstGeom prst="rect">
            <a:avLst/>
          </a:prstGeom>
          <a:solidFill>
            <a:srgbClr val="0F2236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58184" y="1051560"/>
            <a:ext cx="158191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58184" y="1115568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758184" y="171907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FinBot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58184" y="206654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58184" y="246888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Accent colour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758184" y="27157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 avatar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758184" y="296265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Header title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58184" y="3209544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Welcome prompts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58184" y="3456432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placeholder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758184" y="370332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 upload hint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58184" y="395020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prompt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522976" y="1051560"/>
            <a:ext cx="1581912" cy="2011680"/>
          </a:xfrm>
          <a:prstGeom prst="rect">
            <a:avLst/>
          </a:prstGeom>
          <a:solidFill>
            <a:srgbClr val="0F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22976" y="1051560"/>
            <a:ext cx="158191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22976" y="1115568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5522976" y="171907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EduBot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522976" y="206654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22976" y="246888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Accent colour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22976" y="27157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 avatar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522976" y="296265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Header title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22976" y="3209544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Welcome prompts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22976" y="3456432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placeholder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522976" y="370332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 upload hint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22976" y="395020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prompt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287768" y="1051560"/>
            <a:ext cx="1581912" cy="2011680"/>
          </a:xfrm>
          <a:prstGeom prst="rect">
            <a:avLst/>
          </a:prstGeom>
          <a:solidFill>
            <a:srgbClr val="0F2236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287768" y="1051560"/>
            <a:ext cx="1581912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87768" y="1115568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7287768" y="171907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NeoBot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287768" y="206654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287768" y="246888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Accent colour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287768" y="27157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 avatar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287768" y="296265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Header title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287768" y="3209544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Welcome prompts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287768" y="3456432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placeholder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287768" y="3703320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 upload hint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287768" y="395020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prompt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updates instantly when the domain is switched — no page reload.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✨  Features Implemented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170432"/>
          </a:xfrm>
          <a:prstGeom prst="rect">
            <a:avLst/>
          </a:prstGeom>
          <a:solidFill>
            <a:srgbClr val="0F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188720"/>
            <a:ext cx="777240" cy="219456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18872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RAG Integration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50876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SentenceTransformers. PDF,DOCX,TXT,CSV,MD. Persisted index.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8688" y="1097280"/>
            <a:ext cx="2743200" cy="1170432"/>
          </a:xfrm>
          <a:prstGeom prst="rect">
            <a:avLst/>
          </a:prstGeom>
          <a:solidFill>
            <a:srgbClr val="0F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097280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8928" y="1188720"/>
            <a:ext cx="777240" cy="219456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118872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28416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Web 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150876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Serper→Tavily→Brave fallback. Auto-triggers on latest/current keywords.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63056" y="1097280"/>
            <a:ext cx="2743200" cy="1170432"/>
          </a:xfrm>
          <a:prstGeom prst="rect">
            <a:avLst/>
          </a:prstGeom>
          <a:solidFill>
            <a:srgbClr val="0F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097280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3296" y="1188720"/>
            <a:ext cx="777240" cy="219456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83296" y="118872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272784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Concise/Detailed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2784" y="150876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toggle. Separate token budgets + different system prompt instructions.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395728"/>
            <a:ext cx="2743200" cy="1170432"/>
          </a:xfrm>
          <a:prstGeom prst="rect">
            <a:avLst/>
          </a:prstGeom>
          <a:solidFill>
            <a:srgbClr val="0F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395728"/>
            <a:ext cx="27432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2487168"/>
            <a:ext cx="777240" cy="219456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24871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4048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Dynamic Domain UI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280720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domains — each changes colour theme, avatar, prompts, system prompt.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18688" y="2395728"/>
            <a:ext cx="2743200" cy="1170432"/>
          </a:xfrm>
          <a:prstGeom prst="rect">
            <a:avLst/>
          </a:prstGeom>
          <a:solidFill>
            <a:srgbClr val="0F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2395728"/>
            <a:ext cx="27432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38928" y="2487168"/>
            <a:ext cx="777240" cy="219456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24871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28416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Streaming Responses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28416" y="280720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streaming for OpenAI, Groq (llama-3.3-70b), and Gemini.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63056" y="2395728"/>
            <a:ext cx="2743200" cy="1170432"/>
          </a:xfrm>
          <a:prstGeom prst="rect">
            <a:avLst/>
          </a:prstGeom>
          <a:solidFill>
            <a:srgbClr val="0F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2395728"/>
            <a:ext cx="2743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83296" y="2487168"/>
            <a:ext cx="777240" cy="219456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83296" y="24871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272784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Session Analytics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72784" y="280720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Messages, avg response time, RAG hits, web searches tracked live.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694176"/>
            <a:ext cx="2743200" cy="1170432"/>
          </a:xfrm>
          <a:prstGeom prst="rect">
            <a:avLst/>
          </a:prstGeom>
          <a:solidFill>
            <a:srgbClr val="0F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694176"/>
            <a:ext cx="2743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94560" y="3785616"/>
            <a:ext cx="777240" cy="219456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37856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84048" y="3785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Chat Export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" y="4105656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full conversation as TXT or JSON with one click.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18688" y="3694176"/>
            <a:ext cx="2743200" cy="1170432"/>
          </a:xfrm>
          <a:prstGeom prst="rect">
            <a:avLst/>
          </a:prstGeom>
          <a:solidFill>
            <a:srgbClr val="0F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18688" y="3694176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38928" y="3785616"/>
            <a:ext cx="777240" cy="219456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38928" y="37856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328416" y="3785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Source Citations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28416" y="4105656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doc names + web URLs shown after each response for transparency.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63056" y="3694176"/>
            <a:ext cx="2743200" cy="1170432"/>
          </a:xfrm>
          <a:prstGeom prst="rect">
            <a:avLst/>
          </a:prstGeom>
          <a:solidFill>
            <a:srgbClr val="0F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63056" y="3694176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83296" y="3785616"/>
            <a:ext cx="777240" cy="219456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83296" y="37856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272784" y="3785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 Sidebar Toggle Fix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72784" y="4105656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button always visible even when sidebar is collapsed.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Challenges &amp;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143000"/>
          </a:xfrm>
          <a:prstGeom prst="rect">
            <a:avLst/>
          </a:prstGeom>
          <a:solidFill>
            <a:srgbClr val="0F2236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Dynamic domain theming without page reload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Injected CSS variables via inject_css() on every rerun. st.session_state.domain drives all colours, avatars, prompts.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206240" cy="1143000"/>
          </a:xfrm>
          <a:prstGeom prst="rect">
            <a:avLst/>
          </a:prstGeom>
          <a:solidFill>
            <a:srgbClr val="0F2236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Multi-format file extraction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92040" y="15544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Routed by extension with fallback: pdfplumber→pypdf. CSV rows converted to readable key:value text blocks.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4206240" cy="1143000"/>
          </a:xfrm>
          <a:prstGeom prst="rect">
            <a:avLst/>
          </a:prstGeom>
          <a:solidFill>
            <a:srgbClr val="0F223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468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Gemini message format mismatch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Built _to_gemini_format() to convert OpenAI-style dicts to Gemini history/parts structure.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377440"/>
            <a:ext cx="4206240" cy="1143000"/>
          </a:xfrm>
          <a:prstGeom prst="rect">
            <a:avLst/>
          </a:prstGeom>
          <a:solidFill>
            <a:srgbClr val="0F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468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Streaming across 3 providers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8346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Unified Generator[str] in BaseLLM.stream(). Each provider yields tokens; UI placeholder renders identically.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4206240" cy="1143000"/>
          </a:xfrm>
          <a:prstGeom prst="rect">
            <a:avLst/>
          </a:prstGeom>
          <a:solidFill>
            <a:srgbClr val="0F2236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749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FAISS not rebuilding on rerun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41148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@st.cache_resource for embedding model + load() on startup. clear()+rerun() for user reset.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657600"/>
            <a:ext cx="4206240" cy="1143000"/>
          </a:xfrm>
          <a:prstGeom prst="rect">
            <a:avLst/>
          </a:prstGeom>
          <a:solidFill>
            <a:srgbClr val="0F2236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749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 Sidebar toggle invisible when closed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41148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Targeted [data-testid=collapsedControl] in CSS and forced display:flex with domain-coloured background.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Deployment &amp;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1170432"/>
          </a:xfrm>
          <a:prstGeom prst="rect">
            <a:avLst/>
          </a:prstGeom>
          <a:solidFill>
            <a:srgbClr val="0F2236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85953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Deployed on Streamlit Cloud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https://your-app.streamlit.app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st.secrets  ·  Vector store rebuilt on cold start  ·  No venv committed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45059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852928"/>
            <a:ext cx="26974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1.35+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deployment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54680" y="2852928"/>
            <a:ext cx="26974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4904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Groq / Gemini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49040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2852928"/>
            <a:ext cx="26974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9400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Groq model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721608"/>
            <a:ext cx="26974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" y="3776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4087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embeddings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54680" y="3721608"/>
            <a:ext cx="26974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49040" y="3776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FAISS-CPU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749040" y="4087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3721608"/>
            <a:ext cx="26974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29400" y="3776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/ Tavily / Brave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29400" y="4087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2026-03-13T12:36:40Z</dcterms:created>
  <dcterms:modified xsi:type="dcterms:W3CDTF">2026-03-13T12:36:40Z</dcterms:modified>
</cp:coreProperties>
</file>